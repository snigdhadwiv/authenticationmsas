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5" y="1721197"/>
            <a:ext cx="405765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4279552"/>
            <a:ext cx="2730400" cy="85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650" y="4279552"/>
            <a:ext cx="2730549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1700" y="4279552"/>
            <a:ext cx="2730400" cy="857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75" y="2245072"/>
            <a:ext cx="100012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oppins"/>
              </a:rPr>
              <a:t>AI-Driven </a:t>
            </a:r>
            <a:r>
              <a:rPr b="1" sz="3900" i="0" u="none">
                <a:solidFill>
                  <a:srgbClr val="00F5D4"/>
                </a:solidFill>
                <a:latin typeface="Poppins"/>
              </a:rPr>
              <a:t>Multimodal Step-Up</a:t>
            </a:r>
            <a:r>
              <a:rPr b="1" sz="3900" i="0" u="none">
                <a:solidFill>
                  <a:srgbClr val="FFFFFF"/>
                </a:solidFill>
                <a:latin typeface="Poppins"/>
              </a:rPr>
              <a:t> Authentication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312" y="3536602"/>
            <a:ext cx="64293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DM Sans"/>
              </a:rPr>
              <a:t>With Real-Time Deepfake and Voice-Clone Detection for FinTech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1675" y="4441477"/>
            <a:ext cx="2406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DM Sans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675" y="4631977"/>
            <a:ext cx="2406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1F5F9"/>
                </a:solidFill>
                <a:latin typeface="DM Sans SemiBold"/>
              </a:rPr>
              <a:t>Snigdha Dwivedi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4841527"/>
            <a:ext cx="2406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DM Sans"/>
              </a:rPr>
              <a:t>2023BTCSE018 | B.Tech CSE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575" y="4441477"/>
            <a:ext cx="24066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DM Sans"/>
              </a:rPr>
              <a:t>PROJECT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575" y="4631977"/>
            <a:ext cx="240669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1F5F9"/>
                </a:solidFill>
                <a:latin typeface="DM Sans SemiBold"/>
              </a:rPr>
              <a:t>Dr. Dileep Kumar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575" y="4841527"/>
            <a:ext cx="240669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DM Sans"/>
              </a:rPr>
              <a:t>Faculty of Science &amp; 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3625" y="4441477"/>
            <a:ext cx="2406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DM Sans"/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3625" y="4631977"/>
            <a:ext cx="2406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1F5F9"/>
                </a:solidFill>
                <a:latin typeface="DM Sans SemiBold"/>
              </a:rPr>
              <a:t>Jagran Lakecity Univ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3625" y="4841527"/>
            <a:ext cx="2406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DM Sans"/>
              </a:rPr>
              <a:t>Bhopal, Madhya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457450"/>
            <a:ext cx="5476875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57450"/>
            <a:ext cx="5476875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725" y="5086350"/>
            <a:ext cx="11258550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DM Sans"/>
              </a:rPr>
              <a:t>Industry gap: Current systems lack adaptive risk evaluation paired with real-time multimodal liveness verification.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5114925"/>
            <a:ext cx="1333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2950" y="2733675"/>
            <a:ext cx="5170646" cy="28575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F5D4"/>
                </a:solidFill>
                <a:latin typeface="Poppins"/>
              </a:rPr>
              <a:t>Fragility of SMS OTP &amp; Static Biometrics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133725"/>
            <a:ext cx="49244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DM Sans"/>
              </a:rPr>
              <a:t>SMS OTP Attacks:</a:t>
            </a:r>
            <a:r>
              <a:rPr b="0" sz="1200" i="0" u="none">
                <a:solidFill>
                  <a:srgbClr val="CBD5E1"/>
                </a:solidFill>
                <a:latin typeface="DM Sans"/>
              </a:rPr>
              <a:t> Intercepted easily via SIM-swap fraud, SS7 protocol exploits, and real-time phishing relays without any liveness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933825"/>
            <a:ext cx="49244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DM Sans"/>
              </a:rPr>
              <a:t>Static Face ID Spoofing:</a:t>
            </a:r>
            <a:r>
              <a:rPr b="0" sz="1200" i="0" u="none">
                <a:solidFill>
                  <a:srgbClr val="CBD5E1"/>
                </a:solidFill>
                <a:latin typeface="DM Sans"/>
              </a:rPr>
              <a:t> Vulnerable to simple presentation attacks including printed photos, high-res screen replays, and basic 2D face swaps.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733675"/>
            <a:ext cx="5170646" cy="28575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F5D4"/>
                </a:solidFill>
                <a:latin typeface="Poppins"/>
              </a:rPr>
              <a:t>Generative AI Threat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133725"/>
            <a:ext cx="49244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DM Sans"/>
              </a:rPr>
              <a:t>Deepfake Video Synthesis:</a:t>
            </a:r>
            <a:r>
              <a:rPr b="0" sz="1200" i="0" u="none">
                <a:solidFill>
                  <a:srgbClr val="CBD5E1"/>
                </a:solidFill>
                <a:latin typeface="DM Sans"/>
              </a:rPr>
              <a:t> Generative AI models can now synthesize photorealistic facial likeness in real-time video streams during KYC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933825"/>
            <a:ext cx="49244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CBD5E1"/>
                </a:solidFill>
                <a:latin typeface="DM Sans"/>
              </a:rPr>
              <a:t>Voice Cloning (TTS):</a:t>
            </a:r>
            <a:r>
              <a:rPr b="0" sz="1200" i="0" u="none">
                <a:solidFill>
                  <a:srgbClr val="CBD5E1"/>
                </a:solidFill>
                <a:latin typeface="DM Sans"/>
              </a:rPr>
              <a:t> Few seconds of audio reference enable attackers to clone victim voices, defeating static voice-biometric systems.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781300"/>
            <a:ext cx="1428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78130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Vulnerabilities in Incumbent 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6725" y="466725"/>
            <a:ext cx="5710713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The "Look &amp; Speak"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725" y="1066800"/>
            <a:ext cx="5438775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1352550"/>
            <a:ext cx="571071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F5D4"/>
                </a:solidFill>
                <a:latin typeface="Poppins"/>
              </a:rPr>
              <a:t>Adaptive Risk-Driven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1800225"/>
            <a:ext cx="54387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DM Sans"/>
              </a:rPr>
              <a:t>Instead of imposing uniform friction on every transaction, MSAS computes a real-time contextual risk score. Only transactions crossing risk thresholds trigger step-up authentication.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725" y="2614612"/>
            <a:ext cx="571071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F5D4"/>
                </a:solidFill>
                <a:latin typeface="Poppins"/>
              </a:rPr>
              <a:t>Dual-Modality Active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062287"/>
            <a:ext cx="54387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DM Sans"/>
              </a:rPr>
              <a:t>The user undergoes a simultaneous 8-second visual liveness check ("Look") and dynamic spoken code phrase verification ("Speak") over WebRTC.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662362"/>
            <a:ext cx="571071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F5D4"/>
                </a:solidFill>
                <a:latin typeface="Poppins"/>
              </a:rPr>
              <a:t>Fail-Closed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110037"/>
            <a:ext cx="54387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DM Sans"/>
              </a:rPr>
              <a:t>Any system timeout, network interruption, or signal ambiguity defaults strictly to Deny or Escalate, ensuring zero silent approvals under failure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1764506"/>
            <a:ext cx="3600450" cy="1981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764506"/>
            <a:ext cx="3600450" cy="1981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825" y="1764506"/>
            <a:ext cx="3600450" cy="1981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3974306"/>
            <a:ext cx="5476875" cy="20050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974306"/>
            <a:ext cx="5476875" cy="20050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850" y="2555081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Transfer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907506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DM Sans"/>
              </a:rPr>
              <a:t>Compares transfer value against account baseline. Abnormally high amounts heavily weigh into cumulative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2555081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Geolocation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2907506"/>
            <a:ext cx="3124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DM Sans"/>
              </a:rPr>
              <a:t>Detects impossible speed travel or unverified IP locations relative to historical login hotspots.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950" y="2555081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Device Fingerprint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2907506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DM Sans"/>
              </a:rPr>
              <a:t>Tracks rapid device-switching patterns and browser fingerprint anomalies prior to transfer initiation.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250531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895EF"/>
                </a:solidFill>
                <a:latin typeface="Poppins"/>
              </a:rPr>
              <a:t>Risk Tiers &amp;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250531"/>
            <a:ext cx="517064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895EF"/>
                </a:solidFill>
                <a:latin typeface="Poppins"/>
              </a:rPr>
              <a:t>Time &amp; Payee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602956"/>
            <a:ext cx="4924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DM Sans"/>
              </a:rPr>
              <a:t>Inconsistent time-of-day transaction attempts combined with first-time or watchlisted recipient accounts boost score to ensure maximum security for non-routine transfers.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040731"/>
            <a:ext cx="3810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00" y="2040731"/>
            <a:ext cx="2286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040731"/>
            <a:ext cx="3810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5850" y="4602956"/>
            <a:ext cx="4581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Low Risk:</a:t>
            </a:r>
            <a:r>
              <a:rPr b="0" sz="1125" i="0" u="none">
                <a:solidFill>
                  <a:srgbClr val="CBD5E1"/>
                </a:solidFill>
                <a:latin typeface="DM Sans"/>
              </a:rPr>
              <a:t> Silent auto-approval without user friction.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" y="4969668"/>
            <a:ext cx="4581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Medium Risk:</a:t>
            </a:r>
            <a:r>
              <a:rPr b="0" sz="1125" i="0" u="none">
                <a:solidFill>
                  <a:srgbClr val="CBD5E1"/>
                </a:solidFill>
                <a:latin typeface="DM Sans"/>
              </a:rPr>
              <a:t> Triggers mandatory "Look &amp; Speak" step-up.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" y="5336381"/>
            <a:ext cx="4581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High Risk:</a:t>
            </a:r>
            <a:r>
              <a:rPr b="0" sz="1125" i="0" u="none">
                <a:solidFill>
                  <a:srgbClr val="CBD5E1"/>
                </a:solidFill>
                <a:latin typeface="DM Sans"/>
              </a:rPr>
              <a:t> Step-up challenge + mandatory admin review.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617243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4983956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5350668"/>
            <a:ext cx="171450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Contextual Risk Evaluation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62162"/>
            <a:ext cx="5476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2071687"/>
            <a:ext cx="54578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062162"/>
            <a:ext cx="5133975" cy="623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Eye Aspect Ratio (EAR) Blink Detection: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838450"/>
            <a:ext cx="5133975" cy="623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Randomized Head-Pose Prompts: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614737"/>
            <a:ext cx="51339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Reticle Alignment Window: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314575"/>
            <a:ext cx="5133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Extracts 468 facial mesh landmarks to monitor involuntary blinking cycles across consecutive video frames.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090862"/>
            <a:ext cx="5133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Instructs user to perform dynamic 3D head turns. Defeats flat photos and 2D video replays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67150"/>
            <a:ext cx="51339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Enforces bounding box alignment, preventing pre-recorded video positioning attacks.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076450"/>
            <a:ext cx="1905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2852737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3629025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Visual Liveness Core (MediaPipe)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062162"/>
            <a:ext cx="5476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62162"/>
            <a:ext cx="5476875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548062"/>
            <a:ext cx="5476875" cy="1133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071687"/>
            <a:ext cx="54578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8425" y="2262187"/>
            <a:ext cx="5330666" cy="25717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5D4"/>
                </a:solidFill>
                <a:latin typeface="Poppins"/>
              </a:rPr>
              <a:t>OpenAI Whisper ASR Code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8425" y="2595562"/>
            <a:ext cx="5076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DM Sans"/>
              </a:rPr>
              <a:t>Transcribes spoken audio in real time and matches text against a dynamically generated, single-use phrase cached in Redis. Defeats static voice recording replays.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748087"/>
            <a:ext cx="5330666" cy="2571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895EF"/>
                </a:solidFill>
                <a:latin typeface="Poppins"/>
              </a:rPr>
              <a:t>Voice Authenticity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4081462"/>
            <a:ext cx="50768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DM Sans"/>
              </a:rPr>
              <a:t>Evaluates spectral power distribution, pitch stability, and acoustic phase anomalies to detect synthetic voice clones and TTS engine artifacts.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309812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795712"/>
            <a:ext cx="219075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Audio Pipeline &amp; Voice Authenticity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107406"/>
            <a:ext cx="11258550" cy="3190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5450681"/>
            <a:ext cx="112585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*LLM Risk Reasoning engine generates explainable natural-language logs for all decisions.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6250" y="2116931"/>
          <a:ext cx="11239498" cy="317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26530"/>
                <a:gridCol w="1317724"/>
                <a:gridCol w="1807815"/>
                <a:gridCol w="1236612"/>
                <a:gridCol w="1114425"/>
                <a:gridCol w="4236392"/>
              </a:tblGrid>
              <a:tr h="63436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Visual Liveness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Spoken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Voice Authenticity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Risk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Decision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System Rationale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Match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Authentic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Medium /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ALLOW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All biometric factors verified; challenge passed cleanly.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Pass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Match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Flagged</a:t>
                      </a:r>
                    </a:p>
                  </a:txBody>
                  <a:tcPr anchor="ctr" marL="2476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Medium /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ESCALATE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Possible synthetic voice clone; pending admin review.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Fail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Match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Authentic</a:t>
                      </a:r>
                    </a:p>
                  </a:txBody>
                  <a:tcPr anchor="ctr" marL="2286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Any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DENY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Visual liveness failed; possible photo/video presentation attack.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Fail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Mismatch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Flagged</a:t>
                      </a:r>
                    </a:p>
                  </a:txBody>
                  <a:tcPr anchor="ctr" marL="2190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Any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DENY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Simultaneous failure across modalities; account flagged.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76250" y="2778918"/>
            <a:ext cx="1526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02780" y="2778918"/>
            <a:ext cx="13177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0504" y="2778918"/>
            <a:ext cx="18078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8319" y="2778918"/>
            <a:ext cx="12366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64932" y="2778918"/>
            <a:ext cx="1114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79357" y="2778918"/>
            <a:ext cx="42363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3455193"/>
            <a:ext cx="1526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02780" y="3455193"/>
            <a:ext cx="13177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0504" y="3455193"/>
            <a:ext cx="18078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8319" y="3455193"/>
            <a:ext cx="12366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932" y="3455193"/>
            <a:ext cx="1114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79357" y="3455193"/>
            <a:ext cx="42363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250" y="4131468"/>
            <a:ext cx="1526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02780" y="4131468"/>
            <a:ext cx="13177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20504" y="4131468"/>
            <a:ext cx="18078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8319" y="4131468"/>
            <a:ext cx="12366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932" y="4131468"/>
            <a:ext cx="1114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79357" y="4131468"/>
            <a:ext cx="42363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6250" y="4807743"/>
            <a:ext cx="15265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02780" y="4807743"/>
            <a:ext cx="131772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20504" y="4807743"/>
            <a:ext cx="18078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8319" y="4807743"/>
            <a:ext cx="123661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64932" y="4807743"/>
            <a:ext cx="11144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79357" y="4807743"/>
            <a:ext cx="423639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983956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055143"/>
            <a:ext cx="1143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4407693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407693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3055143"/>
            <a:ext cx="1143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954" y="3731418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230" y="4983956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3731418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1954" y="4407693"/>
            <a:ext cx="11430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1954" y="4983956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1954" y="3055143"/>
            <a:ext cx="1143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731418"/>
            <a:ext cx="11430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055143"/>
            <a:ext cx="114300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3055143"/>
            <a:ext cx="114300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1954" y="3055143"/>
            <a:ext cx="114300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6382" y="3017043"/>
            <a:ext cx="600075" cy="2286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731418"/>
            <a:ext cx="114300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3731418"/>
            <a:ext cx="114300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954" y="3731418"/>
            <a:ext cx="133350" cy="1333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6382" y="3693318"/>
            <a:ext cx="771525" cy="2286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407693"/>
            <a:ext cx="104775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4230" y="4407693"/>
            <a:ext cx="114300" cy="1333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1954" y="4407693"/>
            <a:ext cx="114300" cy="1333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6382" y="4369593"/>
            <a:ext cx="495300" cy="2286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983956"/>
            <a:ext cx="104775" cy="1333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230" y="4983956"/>
            <a:ext cx="104775" cy="1333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1954" y="4983956"/>
            <a:ext cx="104775" cy="1333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6382" y="4945856"/>
            <a:ext cx="495300" cy="228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Multimodal Decision Fusion Rules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4598193"/>
            <a:ext cx="11258550" cy="7191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426493"/>
            <a:ext cx="3600450" cy="1981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775" y="2426493"/>
            <a:ext cx="3600450" cy="1981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2426493"/>
            <a:ext cx="3600450" cy="1981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975" y="4824412"/>
            <a:ext cx="1095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850" y="3217068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1. 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3569493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DM Sans"/>
              </a:rPr>
              <a:t>Next.js &amp; WebRTC:</a:t>
            </a:r>
            <a:r>
              <a:rPr b="0" sz="1050" i="0" u="none">
                <a:solidFill>
                  <a:srgbClr val="94A3B8"/>
                </a:solidFill>
                <a:latin typeface="DM Sans"/>
              </a:rPr>
              <a:t> High-performance frontend capturing zero-latency camera/microphone media streams directly inside the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3217068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2.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3569493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DM Sans"/>
              </a:rPr>
              <a:t>Django REST Framework:</a:t>
            </a:r>
            <a:r>
              <a:rPr b="0" sz="1050" i="0" u="none">
                <a:solidFill>
                  <a:srgbClr val="94A3B8"/>
                </a:solidFill>
                <a:latin typeface="DM Sans"/>
              </a:rPr>
              <a:t> Secure API gateway managing authentication sessions, WebRTC tokens, and API orchestration.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950" y="3217068"/>
            <a:ext cx="32804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oppins"/>
              </a:rPr>
              <a:t>3. Intelligence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3569493"/>
            <a:ext cx="31242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DM Sans"/>
              </a:rPr>
              <a:t>MediaPipe + Whisper + LLM:</a:t>
            </a:r>
            <a:r>
              <a:rPr b="0" sz="1050" i="0" u="none">
                <a:solidFill>
                  <a:srgbClr val="94A3B8"/>
                </a:solidFill>
                <a:latin typeface="DM Sans"/>
              </a:rPr>
              <a:t> On-device vision landmark extraction, Whisper ASR, and decision fusion reasoning engine.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" y="4760118"/>
            <a:ext cx="6460807" cy="1905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F5D4"/>
                </a:solidFill>
                <a:latin typeface="DM Sans"/>
              </a:rPr>
              <a:t>4. Data Layer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" y="4969668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PostgreSQL (persisting user data, transactions &amp; immutable logs) + Redis (caching nonces &amp; session states).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2702718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2702718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950" y="2702718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779168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System Architecture &amp; Tech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2643187"/>
            <a:ext cx="5476875" cy="2714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725" y="2271712"/>
            <a:ext cx="5750718" cy="2571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5D4"/>
                </a:solidFill>
                <a:latin typeface="Poppins"/>
              </a:rPr>
              <a:t>Core Relational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2271712"/>
            <a:ext cx="5750718" cy="25717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F5D4"/>
                </a:solidFill>
                <a:latin typeface="Poppins"/>
              </a:rPr>
              <a:t>Privacy &amp; Data Security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319337"/>
            <a:ext cx="171450" cy="1714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6250" y="2652712"/>
          <a:ext cx="5457824" cy="2695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23467"/>
                <a:gridCol w="1069181"/>
                <a:gridCol w="2365176"/>
              </a:tblGrid>
              <a:tr h="67389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Key Responsibilities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389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UUID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User profiles, salted password hashes, template pointers.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3893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transactions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UUID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Payer/payee info, transfer amounts, risk scores.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389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multimodal_audit_logs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UUID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Immutable decision verdicts, rationale, media hashes.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319337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91300" y="2643187"/>
            <a:ext cx="5133975" cy="604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Zero Raw Biometric Storage: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400425"/>
            <a:ext cx="5133975" cy="604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Tamper-Evident Audit Logging: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4157662"/>
            <a:ext cx="51339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CBD5E1"/>
                </a:solidFill>
                <a:latin typeface="DM Sans"/>
              </a:rPr>
              <a:t>Data Minimization &amp; Compliance: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3314700"/>
            <a:ext cx="20234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99717" y="3314700"/>
            <a:ext cx="10691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8898" y="3314700"/>
            <a:ext cx="23651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1300" y="2876550"/>
            <a:ext cx="5133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Raw photos/audio are destroyed immediately. Only irreversible mathematical embeddings are saved.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633787"/>
            <a:ext cx="51339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All auth attempts generate durable logs containing cryptographic hashes of verification artifacts.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391025"/>
            <a:ext cx="51339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Aligned with IT Act 2000 and standard digital banking privacy guidelines.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3990975"/>
            <a:ext cx="20234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99717" y="3990975"/>
            <a:ext cx="10691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8898" y="3990975"/>
            <a:ext cx="23651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6250" y="4667250"/>
            <a:ext cx="20234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99717" y="4667250"/>
            <a:ext cx="10691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8898" y="4667250"/>
            <a:ext cx="23651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657475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3414712"/>
            <a:ext cx="1333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4171950"/>
            <a:ext cx="219075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Database Schema &amp; Security Posture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690937"/>
            <a:ext cx="11258550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138362"/>
            <a:ext cx="3600450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775" y="2138362"/>
            <a:ext cx="3600450" cy="1028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2138362"/>
            <a:ext cx="3600450" cy="1028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725" y="3357562"/>
            <a:ext cx="117252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oppins"/>
              </a:rPr>
              <a:t>Validation Test Matrix Highlights (IEEE Std 830)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6250" y="3700462"/>
          <a:ext cx="11239498" cy="189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63823"/>
                <a:gridCol w="3179415"/>
                <a:gridCol w="3305621"/>
                <a:gridCol w="3690639"/>
              </a:tblGrid>
              <a:tr h="473868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Test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Attack Scenario / Condition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Input Test 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0F5D4"/>
                          </a:solidFill>
                          <a:latin typeface="DM Sans SemiBold"/>
                        </a:rPr>
                        <a:t>Expected System Response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TC-03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Photo Spoofing Attack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High-res printed photo held in 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DENY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 (No EAR blink / pose movement)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386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TC-05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Deepfake Voice Clone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Synthetic TTS voice speaking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ESCALATE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 (Spectral anomalies flagged)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387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TC-08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Network Dropout Mid-Check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Dropped WebRTC socket connection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DENY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DM Sans"/>
                        </a:rPr>
                        <a:t> (Fail-Closed policy enforced)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8650" y="2300287"/>
            <a:ext cx="3440430" cy="2381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Latency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" y="2633662"/>
            <a:ext cx="32766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End-to-end "Look &amp; Speak" step-up verification completes under </a:t>
            </a:r>
            <a:r>
              <a:rPr b="1" sz="975" i="0" u="none">
                <a:solidFill>
                  <a:srgbClr val="94A3B8"/>
                </a:solidFill>
                <a:latin typeface="DM Sans"/>
              </a:rPr>
              <a:t>3.0 seconds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2300287"/>
            <a:ext cx="3440430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2633662"/>
            <a:ext cx="32766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Supports at least </a:t>
            </a:r>
            <a:r>
              <a:rPr b="1" sz="975" i="0" u="none">
                <a:solidFill>
                  <a:srgbClr val="94A3B8"/>
                </a:solidFill>
                <a:latin typeface="DM Sans"/>
              </a:rPr>
              <a:t>500 concurrent sessions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 with failure rates &lt; 1%.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0" y="2300287"/>
            <a:ext cx="3440430" cy="23812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WCAG 2.1 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0" y="2633662"/>
            <a:ext cx="32766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DM Sans"/>
              </a:rPr>
              <a:t>Captioned prompts, accessible contrast, and non-biometric fallback pathways.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4162425"/>
            <a:ext cx="1063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40073" y="4162425"/>
            <a:ext cx="31794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9488" y="4162425"/>
            <a:ext cx="33056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5110" y="4162425"/>
            <a:ext cx="3690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338387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2338387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0" y="2338387"/>
            <a:ext cx="152400" cy="152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76250" y="4638675"/>
            <a:ext cx="1063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40073" y="4638675"/>
            <a:ext cx="31794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19488" y="4638675"/>
            <a:ext cx="33056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5110" y="4638675"/>
            <a:ext cx="3690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6250" y="5114925"/>
            <a:ext cx="1063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40073" y="5114925"/>
            <a:ext cx="31794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19488" y="5114925"/>
            <a:ext cx="330562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5110" y="5114925"/>
            <a:ext cx="369063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6560" y="4300537"/>
            <a:ext cx="4953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6560" y="4776787"/>
            <a:ext cx="771525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6560" y="5253037"/>
            <a:ext cx="4953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Quality Attributes &amp; Testing Matrix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111103"/>
            <a:ext cx="2589460" cy="14073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371" y="3111103"/>
            <a:ext cx="2589460" cy="14073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018" y="3111103"/>
            <a:ext cx="2589460" cy="14073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665" y="3111103"/>
            <a:ext cx="2589460" cy="14073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6725" y="3562350"/>
            <a:ext cx="1125855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725" y="4994671"/>
            <a:ext cx="112585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00F5D4"/>
                </a:solidFill>
                <a:latin typeface="DM Sans SemiBold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5289946"/>
            <a:ext cx="112585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DM Sans"/>
              </a:rPr>
              <a:t>Questions &amp; Discussion | Snigdha Dwivedi (2023BTCSE018)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6130" y="27396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3311128"/>
            <a:ext cx="22988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Month 1 - 3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625453"/>
            <a:ext cx="21894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DM Sans"/>
              </a:rPr>
              <a:t>System Design &amp; SRS: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 Requirements formulation (IEEE 830), risk scoring logic, and database architecture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777" y="27396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6396" y="3311128"/>
            <a:ext cx="22988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Month 4 - 6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396" y="3625453"/>
            <a:ext cx="21894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DM Sans"/>
              </a:rPr>
              <a:t>Phase 1 Deliverable: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 Build Risk Engine and Vision Core (MediaPipe liveness). Mid-Term Evaluation &amp;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45424" y="27396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043" y="3311128"/>
            <a:ext cx="22988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Month 7 - 9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043" y="3625453"/>
            <a:ext cx="218941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DM Sans"/>
              </a:rPr>
              <a:t>Phase 2 Build: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 Audio pipeline integration (Whisper ASR + Voice Authenticity Classifier) &amp; Decision Fusion Engine.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5071" y="27396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5690" y="3311128"/>
            <a:ext cx="22988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F5D4"/>
                </a:solidFill>
                <a:latin typeface="Poppins"/>
              </a:rPr>
              <a:t>Month 10 - 12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5690" y="3625453"/>
            <a:ext cx="21894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DM Sans"/>
              </a:rPr>
              <a:t>Testing &amp; Final Viva:</a:t>
            </a:r>
            <a:r>
              <a:rPr b="0" sz="975" i="0" u="none">
                <a:solidFill>
                  <a:srgbClr val="94A3B8"/>
                </a:solidFill>
                <a:latin typeface="DM Sans"/>
              </a:rPr>
              <a:t> Full test matrix execution (TC-01 to TC-10), security hardening, and final presentation.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Development Timeline &amp; Phased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6725" y="3019425"/>
            <a:ext cx="1125855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6725" y="39528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6725" y="3952875"/>
            <a:ext cx="11258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32480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100" y="3162300"/>
            <a:ext cx="101631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https://media.istockphoto.com/id/1166057711/vector/biometric-person-identification-facial-recognition-concept-futuristic-low-polygonal-human.jpg?s=612x612&amp;w=0&amp;k=20&amp;c=bEePF402x94i0sHzgQ9kc8TSGb3jSs4DbeqIusyiIPM=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3581400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www.istockphoto.com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1052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62100" y="4112418"/>
            <a:ext cx="10163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DM Sans"/>
              </a:rPr>
              <a:t>https://www.altexsoft.com/static/blog-post-featured/2023/10/5a93ebe9-0acb-44fc-9007-caae8bf4f13a.jpg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4345781"/>
            <a:ext cx="10163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www.altexsoft.com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" y="466725"/>
            <a:ext cx="1172527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FFFFFF"/>
                </a:solidFill>
                <a:latin typeface="Poppins SemiBold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725" y="1066800"/>
            <a:ext cx="11258550" cy="19050"/>
          </a:xfrm>
          <a:prstGeom prst="rect">
            <a:avLst/>
          </a:prstGeom>
          <a:solidFill>
            <a:srgbClr val="00F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